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Times New Roman Bold" charset="1" panose="02020803070505020304"/>
      <p:regular r:id="rId18"/>
    </p:embeddedFont>
    <p:embeddedFont>
      <p:font typeface="Arial" charset="1" panose="020B0604020202020204"/>
      <p:regular r:id="rId19"/>
    </p:embeddedFont>
    <p:embeddedFont>
      <p:font typeface="Times New Roman" charset="1" panose="02020603050405020304"/>
      <p:regular r:id="rId20"/>
    </p:embeddedFont>
    <p:embeddedFont>
      <p:font typeface="Arial Bold" charset="1" panose="020B070402020202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1277"/>
            <a:ext cx="9753600" cy="3112808"/>
            <a:chOff x="0" y="0"/>
            <a:chExt cx="13004800" cy="4150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4150360"/>
            </a:xfrm>
            <a:custGeom>
              <a:avLst/>
              <a:gdLst/>
              <a:ahLst/>
              <a:cxnLst/>
              <a:rect r="r" b="b" t="t" l="l"/>
              <a:pathLst>
                <a:path h="4150360" w="13004800">
                  <a:moveTo>
                    <a:pt x="0" y="4150360"/>
                  </a:moveTo>
                  <a:lnTo>
                    <a:pt x="13004800" y="415036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415036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52222" y="-81277"/>
            <a:ext cx="3101378" cy="3410369"/>
          </a:xfrm>
          <a:custGeom>
            <a:avLst/>
            <a:gdLst/>
            <a:ahLst/>
            <a:cxnLst/>
            <a:rect r="r" b="b" t="t" l="l"/>
            <a:pathLst>
              <a:path h="3410369" w="3101378">
                <a:moveTo>
                  <a:pt x="0" y="0"/>
                </a:moveTo>
                <a:lnTo>
                  <a:pt x="3101378" y="0"/>
                </a:lnTo>
                <a:lnTo>
                  <a:pt x="3101378" y="3410369"/>
                </a:lnTo>
                <a:lnTo>
                  <a:pt x="0" y="3410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95" t="0" r="-489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56960" y="6587795"/>
            <a:ext cx="2926080" cy="259080"/>
          </a:xfrm>
          <a:custGeom>
            <a:avLst/>
            <a:gdLst/>
            <a:ahLst/>
            <a:cxnLst/>
            <a:rect r="r" b="b" t="t" l="l"/>
            <a:pathLst>
              <a:path h="259080" w="2926080">
                <a:moveTo>
                  <a:pt x="0" y="0"/>
                </a:moveTo>
                <a:lnTo>
                  <a:pt x="2926080" y="0"/>
                </a:lnTo>
                <a:lnTo>
                  <a:pt x="2926080" y="259080"/>
                </a:lnTo>
                <a:lnTo>
                  <a:pt x="0" y="259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" t="0" r="-3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913" y="4401087"/>
            <a:ext cx="3062180" cy="2040177"/>
          </a:xfrm>
          <a:custGeom>
            <a:avLst/>
            <a:gdLst/>
            <a:ahLst/>
            <a:cxnLst/>
            <a:rect r="r" b="b" t="t" l="l"/>
            <a:pathLst>
              <a:path h="2040177" w="3062180">
                <a:moveTo>
                  <a:pt x="0" y="0"/>
                </a:moveTo>
                <a:lnTo>
                  <a:pt x="3062180" y="0"/>
                </a:lnTo>
                <a:lnTo>
                  <a:pt x="3062180" y="2040177"/>
                </a:lnTo>
                <a:lnTo>
                  <a:pt x="0" y="2040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8655" y="467878"/>
            <a:ext cx="6077311" cy="151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403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Automatic Speech Recognition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33731" y="4581603"/>
            <a:ext cx="6225892" cy="2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9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9 • Fall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8411" y="5284802"/>
            <a:ext cx="4448375" cy="1156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9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by: Rashmi and Ameerkhan</a:t>
            </a:r>
          </a:p>
          <a:p>
            <a:pPr algn="ctr">
              <a:lnSpc>
                <a:spcPts val="1791"/>
              </a:lnSpc>
            </a:pPr>
          </a:p>
          <a:p>
            <a:pPr algn="ctr">
              <a:lnSpc>
                <a:spcPts val="1791"/>
              </a:lnSpc>
            </a:pPr>
            <a:r>
              <a:rPr lang="en-US" sz="19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Instructor: Dr. Kewei Isaac Li</a:t>
            </a:r>
          </a:p>
          <a:p>
            <a:pPr algn="ctr">
              <a:lnSpc>
                <a:spcPts val="1791"/>
              </a:lnSpc>
            </a:pPr>
          </a:p>
          <a:p>
            <a:pPr algn="l">
              <a:lnSpc>
                <a:spcPts val="23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60397" y="3205763"/>
            <a:ext cx="853265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Identification of Risk for Hospitalizations and Emergency Department Visits in Home Healthcare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5983" y="1336677"/>
            <a:ext cx="8836514" cy="300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863" indent="-148431" lvl="1">
              <a:lnSpc>
                <a:spcPts val="2335"/>
              </a:lnSpc>
              <a:buFont typeface="Arial"/>
              <a:buChar char="•"/>
            </a:pPr>
            <a:r>
              <a:rPr lang="en-US" sz="2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healthcare patients deteriorate between nurse visits</a:t>
            </a:r>
          </a:p>
          <a:p>
            <a:pPr algn="l">
              <a:lnSpc>
                <a:spcPts val="2335"/>
              </a:lnSpc>
            </a:pPr>
          </a:p>
          <a:p>
            <a:pPr algn="l" marL="296863" indent="-148431" lvl="1">
              <a:lnSpc>
                <a:spcPts val="2335"/>
              </a:lnSpc>
              <a:buFont typeface="Arial"/>
              <a:buChar char="•"/>
            </a:pPr>
            <a:r>
              <a:rPr lang="en-US" sz="2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Subtle symptoms often go undetected</a:t>
            </a:r>
          </a:p>
          <a:p>
            <a:pPr algn="l">
              <a:lnSpc>
                <a:spcPts val="2336"/>
              </a:lnSpc>
            </a:pPr>
          </a:p>
          <a:p>
            <a:pPr algn="l" marL="296863" indent="-148431" lvl="1">
              <a:lnSpc>
                <a:spcPts val="2335"/>
              </a:lnSpc>
              <a:buFont typeface="Arial"/>
              <a:buChar char="•"/>
            </a:pPr>
            <a:r>
              <a:rPr lang="en-US" sz="2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contains acoustic biomarkers of illness</a:t>
            </a:r>
          </a:p>
          <a:p>
            <a:pPr algn="l">
              <a:lnSpc>
                <a:spcPts val="2336"/>
              </a:lnSpc>
            </a:pPr>
          </a:p>
          <a:p>
            <a:pPr algn="l" marL="296863" indent="-148431" lvl="1">
              <a:lnSpc>
                <a:spcPts val="2335"/>
              </a:lnSpc>
              <a:buFont typeface="Arial"/>
              <a:buChar char="•"/>
            </a:pPr>
            <a:r>
              <a:rPr lang="en-US" sz="2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non-invasive, scalable monitoring</a:t>
            </a:r>
          </a:p>
          <a:p>
            <a:pPr algn="l">
              <a:lnSpc>
                <a:spcPts val="2335"/>
              </a:lnSpc>
            </a:pPr>
          </a:p>
          <a:p>
            <a:pPr algn="l">
              <a:lnSpc>
                <a:spcPts val="2336"/>
              </a:lnSpc>
            </a:pPr>
          </a:p>
          <a:p>
            <a:pPr algn="l" marL="296960" indent="-148480" lvl="1">
              <a:lnSpc>
                <a:spcPts val="276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5983" y="149305"/>
            <a:ext cx="5050436" cy="57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307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</a:t>
            </a:r>
            <a:r>
              <a:rPr lang="en-US" sz="307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&amp; Motivation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27035" y="4609596"/>
            <a:ext cx="6358540" cy="2132546"/>
          </a:xfrm>
          <a:custGeom>
            <a:avLst/>
            <a:gdLst/>
            <a:ahLst/>
            <a:cxnLst/>
            <a:rect r="r" b="b" t="t" l="l"/>
            <a:pathLst>
              <a:path h="2132546" w="6358540">
                <a:moveTo>
                  <a:pt x="0" y="0"/>
                </a:moveTo>
                <a:lnTo>
                  <a:pt x="6358540" y="0"/>
                </a:lnTo>
                <a:lnTo>
                  <a:pt x="6358540" y="2132546"/>
                </a:lnTo>
                <a:lnTo>
                  <a:pt x="0" y="2132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326" r="0" b="-4932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4863" y="1310604"/>
            <a:ext cx="8369132" cy="424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Integration: Merge Coswara audio and metadata into unified labeled dataset.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 Extract 46 acoustic features (MFCC, spectral, prosodic).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Development: Train XGBoost classifiers for healthy vs. positive/at-risk.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Evaluation: Assess with accuracy, precision, recall, F1, AUC; prioritize minority-class detection.</a:t>
            </a:r>
          </a:p>
          <a:p>
            <a:pPr algn="l" marL="300284" indent="-150142" lvl="1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4863" y="239325"/>
            <a:ext cx="4390889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18038" y="4256214"/>
            <a:ext cx="4243945" cy="2827528"/>
          </a:xfrm>
          <a:custGeom>
            <a:avLst/>
            <a:gdLst/>
            <a:ahLst/>
            <a:cxnLst/>
            <a:rect r="r" b="b" t="t" l="l"/>
            <a:pathLst>
              <a:path h="2827528" w="4243945">
                <a:moveTo>
                  <a:pt x="0" y="0"/>
                </a:moveTo>
                <a:lnTo>
                  <a:pt x="4243945" y="0"/>
                </a:lnTo>
                <a:lnTo>
                  <a:pt x="4243945" y="2827528"/>
                </a:lnTo>
                <a:lnTo>
                  <a:pt x="0" y="2827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090" y="1357798"/>
            <a:ext cx="4693920" cy="55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Dataset Stats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761" y="2108740"/>
            <a:ext cx="3454152" cy="270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452" indent="-249226" lvl="1">
              <a:lnSpc>
                <a:spcPts val="2154"/>
              </a:lnSpc>
              <a:buFont typeface="Arial"/>
              <a:buChar char="•"/>
            </a:pP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samples:</a:t>
            </a: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2,374</a:t>
            </a:r>
          </a:p>
          <a:p>
            <a:pPr algn="l">
              <a:lnSpc>
                <a:spcPts val="2154"/>
              </a:lnSpc>
            </a:pPr>
          </a:p>
          <a:p>
            <a:pPr algn="l" marL="498452" indent="-249226" lvl="1">
              <a:lnSpc>
                <a:spcPts val="2154"/>
              </a:lnSpc>
              <a:buFont typeface="Arial"/>
              <a:buChar char="•"/>
            </a:pP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Usable samples: 2,273</a:t>
            </a:r>
          </a:p>
          <a:p>
            <a:pPr algn="l">
              <a:lnSpc>
                <a:spcPts val="2154"/>
              </a:lnSpc>
            </a:pPr>
          </a:p>
          <a:p>
            <a:pPr algn="l" marL="498452" indent="-249226" lvl="1">
              <a:lnSpc>
                <a:spcPts val="2154"/>
              </a:lnSpc>
              <a:buFont typeface="Arial"/>
              <a:buChar char="•"/>
            </a:pP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Healthy: 1,794</a:t>
            </a:r>
          </a:p>
          <a:p>
            <a:pPr algn="l">
              <a:lnSpc>
                <a:spcPts val="2154"/>
              </a:lnSpc>
            </a:pPr>
          </a:p>
          <a:p>
            <a:pPr algn="l" marL="498452" indent="-249226" lvl="1">
              <a:lnSpc>
                <a:spcPts val="2154"/>
              </a:lnSpc>
              <a:buFont typeface="Arial"/>
              <a:buChar char="•"/>
            </a:pP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Positive/At-Risk: 479</a:t>
            </a:r>
          </a:p>
          <a:p>
            <a:pPr algn="l">
              <a:lnSpc>
                <a:spcPts val="2154"/>
              </a:lnSpc>
            </a:pPr>
          </a:p>
          <a:p>
            <a:pPr algn="l" marL="498452" indent="-249226" lvl="1">
              <a:lnSpc>
                <a:spcPts val="2154"/>
              </a:lnSpc>
              <a:buFont typeface="Arial"/>
              <a:buChar char="•"/>
            </a:pPr>
            <a:r>
              <a:rPr lang="en-US" sz="23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imbalance: 3.75 : 1</a:t>
            </a:r>
          </a:p>
          <a:p>
            <a:pPr algn="l">
              <a:lnSpc>
                <a:spcPts val="215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01274" y="1416001"/>
            <a:ext cx="7958938" cy="2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Audio Types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1539" y="2118265"/>
            <a:ext cx="3151956" cy="279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Heavy cough recordings</a:t>
            </a:r>
          </a:p>
          <a:p>
            <a:pPr algn="l">
              <a:lnSpc>
                <a:spcPts val="2232"/>
              </a:lnSpc>
            </a:pPr>
          </a:p>
          <a:p>
            <a:pPr algn="l">
              <a:lnSpc>
                <a:spcPts val="2232"/>
              </a:lnSpc>
            </a:pPr>
            <a:r>
              <a:rPr lang="en-US" sz="2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Deep breathing sounds</a:t>
            </a:r>
          </a:p>
          <a:p>
            <a:pPr algn="l">
              <a:lnSpc>
                <a:spcPts val="2232"/>
              </a:lnSpc>
            </a:pPr>
          </a:p>
          <a:p>
            <a:pPr algn="l">
              <a:lnSpc>
                <a:spcPts val="2232"/>
              </a:lnSpc>
            </a:pPr>
            <a:r>
              <a:rPr lang="en-US" sz="2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Sustained vowels (/aaa/)</a:t>
            </a:r>
          </a:p>
          <a:p>
            <a:pPr algn="l">
              <a:lnSpc>
                <a:spcPts val="2232"/>
              </a:lnSpc>
            </a:pPr>
          </a:p>
          <a:p>
            <a:pPr algn="l">
              <a:lnSpc>
                <a:spcPts val="2232"/>
              </a:lnSpc>
            </a:pPr>
            <a:r>
              <a:rPr lang="en-US" sz="2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Short speech utterances</a:t>
            </a:r>
          </a:p>
          <a:p>
            <a:pPr algn="l">
              <a:lnSpc>
                <a:spcPts val="2232"/>
              </a:lnSpc>
            </a:pPr>
          </a:p>
          <a:p>
            <a:pPr algn="l">
              <a:lnSpc>
                <a:spcPts val="2232"/>
              </a:lnSpc>
            </a:pPr>
          </a:p>
          <a:p>
            <a:pPr algn="l">
              <a:lnSpc>
                <a:spcPts val="22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46090" y="239325"/>
            <a:ext cx="4390889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323" y="1080975"/>
            <a:ext cx="5470522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Labels</a:t>
            </a:r>
          </a:p>
          <a:p>
            <a:pPr algn="l">
              <a:lnSpc>
                <a:spcPts val="2786"/>
              </a:lnSpc>
            </a:pP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0 – Healthy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recovered_full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no_resp_illness_exposed</a:t>
            </a: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1 – Positive / At-Risk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positive_mild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positive_asymptomatic</a:t>
            </a:r>
          </a:p>
          <a:p>
            <a:pPr algn="l" marL="501308" indent="-250654" lvl="1">
              <a:lnSpc>
                <a:spcPts val="2786"/>
              </a:lnSpc>
              <a:buFont typeface="Arial"/>
              <a:buChar char="•"/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positive_moderate</a:t>
            </a:r>
          </a:p>
          <a:p>
            <a:pPr algn="l">
              <a:lnSpc>
                <a:spcPts val="2786"/>
              </a:lnSpc>
            </a:pPr>
          </a:p>
          <a:p>
            <a:pPr algn="l">
              <a:lnSpc>
                <a:spcPts val="2786"/>
              </a:lnSpc>
            </a:pPr>
          </a:p>
          <a:p>
            <a:pPr algn="l">
              <a:lnSpc>
                <a:spcPts val="2786"/>
              </a:lnSpc>
            </a:pPr>
          </a:p>
          <a:p>
            <a:pPr algn="l">
              <a:lnSpc>
                <a:spcPts val="278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2624" y="170908"/>
            <a:ext cx="4787482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Formulation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54845" y="1080975"/>
            <a:ext cx="4198755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Train/Test Split</a:t>
            </a:r>
          </a:p>
          <a:p>
            <a:pPr algn="l">
              <a:lnSpc>
                <a:spcPts val="2845"/>
              </a:lnSpc>
            </a:pPr>
          </a:p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Training: 1,818 samples (80%)</a:t>
            </a:r>
          </a:p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78.7% healthy, 21.3% positive</a:t>
            </a:r>
          </a:p>
          <a:p>
            <a:pPr algn="l">
              <a:lnSpc>
                <a:spcPts val="2845"/>
              </a:lnSpc>
            </a:pPr>
          </a:p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455 samples (20%)</a:t>
            </a:r>
          </a:p>
          <a:p>
            <a:pPr algn="l">
              <a:lnSpc>
                <a:spcPts val="2845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Stratified split preserves class proportions</a:t>
            </a:r>
          </a:p>
          <a:p>
            <a:pPr algn="l">
              <a:lnSpc>
                <a:spcPts val="28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5024" y="1336962"/>
            <a:ext cx="8828546" cy="389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 Resample to 16 kHz, normalize loudness, trim silence with VAD.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(46 total):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MFCCs: 13 coefficients + delta + delta-delta (39 dims)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Spectral: centroid, bandwidth, rolloff, zero-crossing rate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Additional: chroma, tempogram features capturing pitch and rhythm</a:t>
            </a:r>
          </a:p>
          <a:p>
            <a:pPr algn="l" marL="300284" indent="-150142" lvl="1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1504" y="298586"/>
            <a:ext cx="4787482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Audio 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524" y="1315121"/>
            <a:ext cx="9204006" cy="389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Baseline: XGBoost with default hyperparameters on 46 standardized features.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Metrics: Accuracy, precision, recall, F1, AUC—prioritizing positive-class recall.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Tuning: Randomized search + 4-fold stratified CV.</a:t>
            </a:r>
          </a:p>
          <a:p>
            <a:pPr algn="l" marL="300284" indent="-150142" lvl="1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Criterion: Mean CV AUC (minority-class detection over raw accuracy).</a:t>
            </a:r>
          </a:p>
          <a:p>
            <a:pPr algn="l" marL="300284" indent="-150142" lvl="1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5524" y="239325"/>
            <a:ext cx="5798154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Modeling Stratergy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8371" y="1385887"/>
            <a:ext cx="7347442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36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Improvements</a:t>
            </a:r>
          </a:p>
          <a:p>
            <a:pPr algn="l">
              <a:lnSpc>
                <a:spcPts val="2832"/>
              </a:lnSpc>
            </a:pPr>
          </a:p>
          <a:p>
            <a:pPr algn="l" marL="303617" indent="-151808" lvl="1">
              <a:lnSpc>
                <a:spcPts val="212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Recall: 0.50–0.65 (vs 0.42 baseline)</a:t>
            </a:r>
          </a:p>
          <a:p>
            <a:pPr algn="l">
              <a:lnSpc>
                <a:spcPts val="2124"/>
              </a:lnSpc>
            </a:pPr>
          </a:p>
          <a:p>
            <a:pPr algn="l" marL="303617" indent="-151808" lvl="1">
              <a:lnSpc>
                <a:spcPts val="212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AUC: 0.72–0.76 (vs 0.70 baseline)</a:t>
            </a:r>
          </a:p>
          <a:p>
            <a:pPr algn="l">
              <a:lnSpc>
                <a:spcPts val="2124"/>
              </a:lnSpc>
            </a:pPr>
          </a:p>
          <a:p>
            <a:pPr algn="l" marL="303718" indent="-151859" lvl="1">
              <a:lnSpc>
                <a:spcPts val="212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minor accuracy decrease for clinical relevance</a:t>
            </a:r>
          </a:p>
          <a:p>
            <a:pPr algn="l" marL="303718" indent="-151859" lvl="1">
              <a:lnSpc>
                <a:spcPts val="2124"/>
              </a:lnSpc>
            </a:pPr>
          </a:p>
          <a:p>
            <a:pPr algn="l" marL="303718" indent="-151859" lvl="1">
              <a:lnSpc>
                <a:spcPts val="2124"/>
              </a:lnSpc>
            </a:pPr>
          </a:p>
          <a:p>
            <a:pPr algn="l" marL="303718" indent="-151859" lvl="1">
              <a:lnSpc>
                <a:spcPts val="2124"/>
              </a:lnSpc>
            </a:pPr>
            <a:r>
              <a:rPr lang="en-US" b="true" sz="23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Class-wise Metrics</a:t>
            </a:r>
          </a:p>
          <a:p>
            <a:pPr algn="l" marL="303718" indent="-151859" lvl="1">
              <a:lnSpc>
                <a:spcPts val="2124"/>
              </a:lnSpc>
            </a:pPr>
          </a:p>
          <a:p>
            <a:pPr algn="l">
              <a:lnSpc>
                <a:spcPts val="2124"/>
              </a:lnSpc>
            </a:pPr>
            <a:r>
              <a:rPr lang="en-US" b="true" sz="23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Healthy:</a:t>
            </a: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Precision 0.82, Recall 0.95</a:t>
            </a:r>
          </a:p>
          <a:p>
            <a:pPr algn="l">
              <a:lnSpc>
                <a:spcPts val="2124"/>
              </a:lnSpc>
            </a:pPr>
          </a:p>
          <a:p>
            <a:pPr algn="l" marL="303718" indent="-151859" lvl="1">
              <a:lnSpc>
                <a:spcPts val="2124"/>
              </a:lnSpc>
            </a:pPr>
            <a:r>
              <a:rPr lang="en-US" b="true" sz="23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Positive:</a:t>
            </a: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Precision 0.67, Recall 0.55</a:t>
            </a:r>
          </a:p>
          <a:p>
            <a:pPr algn="l" marL="303718" indent="-151859" lvl="1">
              <a:lnSpc>
                <a:spcPts val="2124"/>
              </a:lnSpc>
            </a:pPr>
          </a:p>
          <a:p>
            <a:pPr algn="l" marL="303718" indent="-151859" lvl="1">
              <a:lnSpc>
                <a:spcPts val="283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8371" y="170908"/>
            <a:ext cx="6642512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 Model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78916" y="6943287"/>
            <a:ext cx="260775" cy="1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920" spc="-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Freeform 8" id="8" descr="A graph of a curve  AI-generated content may be incorrect."/>
          <p:cNvSpPr/>
          <p:nvPr/>
        </p:nvSpPr>
        <p:spPr>
          <a:xfrm flipH="false" flipV="false" rot="0">
            <a:off x="-7391" y="975360"/>
            <a:ext cx="5560228" cy="3580381"/>
          </a:xfrm>
          <a:custGeom>
            <a:avLst/>
            <a:gdLst/>
            <a:ahLst/>
            <a:cxnLst/>
            <a:rect r="r" b="b" t="t" l="l"/>
            <a:pathLst>
              <a:path h="3580381" w="5560228">
                <a:moveTo>
                  <a:pt x="0" y="0"/>
                </a:moveTo>
                <a:lnTo>
                  <a:pt x="5560228" y="0"/>
                </a:lnTo>
                <a:lnTo>
                  <a:pt x="5560228" y="3580381"/>
                </a:lnTo>
                <a:lnTo>
                  <a:pt x="0" y="3580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47" t="0" r="0" b="-17067"/>
            </a:stretch>
          </a:blipFill>
        </p:spPr>
      </p:sp>
      <p:sp>
        <p:nvSpPr>
          <p:cNvPr name="Freeform 9" id="9" descr="A close-up of a graph  AI-generated content may be incorrect."/>
          <p:cNvSpPr/>
          <p:nvPr/>
        </p:nvSpPr>
        <p:spPr>
          <a:xfrm flipH="false" flipV="false" rot="0">
            <a:off x="4632960" y="2600963"/>
            <a:ext cx="4779102" cy="4178008"/>
          </a:xfrm>
          <a:custGeom>
            <a:avLst/>
            <a:gdLst/>
            <a:ahLst/>
            <a:cxnLst/>
            <a:rect r="r" b="b" t="t" l="l"/>
            <a:pathLst>
              <a:path h="4178008" w="4779102">
                <a:moveTo>
                  <a:pt x="0" y="0"/>
                </a:moveTo>
                <a:lnTo>
                  <a:pt x="4779102" y="0"/>
                </a:lnTo>
                <a:lnTo>
                  <a:pt x="4779102" y="4178008"/>
                </a:lnTo>
                <a:lnTo>
                  <a:pt x="0" y="4178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87" r="0" b="-1168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4286" y="239325"/>
            <a:ext cx="7013518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13004800" y="0"/>
                  </a:moveTo>
                  <a:lnTo>
                    <a:pt x="0" y="0"/>
                  </a:lnTo>
                  <a:lnTo>
                    <a:pt x="0" y="1300480"/>
                  </a:lnTo>
                  <a:lnTo>
                    <a:pt x="13004800" y="1300480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78916" y="6943287"/>
            <a:ext cx="260775" cy="1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920" spc="-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9120" y="1647596"/>
            <a:ext cx="8876813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Healthcare Integration:</a:t>
            </a:r>
          </a:p>
          <a:p>
            <a:pPr algn="l">
              <a:lnSpc>
                <a:spcPts val="2799"/>
              </a:lnSpc>
            </a:pPr>
          </a:p>
          <a:p>
            <a:pPr algn="l" marL="300185" indent="-150092" lvl="1">
              <a:lnSpc>
                <a:spcPts val="2832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voice collection via smartphone app between nurse visits.</a:t>
            </a:r>
          </a:p>
          <a:p>
            <a:pPr algn="l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alerts for subtle deterioration signals.</a:t>
            </a:r>
          </a:p>
          <a:p>
            <a:pPr algn="l" marL="300284" indent="-150142" lvl="1">
              <a:lnSpc>
                <a:spcPts val="2799"/>
              </a:lnSpc>
            </a:pPr>
          </a:p>
          <a:p>
            <a:pPr algn="l" marL="300284" indent="-150142" lvl="1">
              <a:lnSpc>
                <a:spcPts val="2799"/>
              </a:lnSpc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</a:p>
          <a:p>
            <a:pPr algn="l" marL="300284" indent="-150142" lvl="1">
              <a:lnSpc>
                <a:spcPts val="2799"/>
              </a:lnSpc>
            </a:pPr>
          </a:p>
          <a:p>
            <a:pPr algn="l" marL="300185" indent="-150092" lvl="1">
              <a:lnSpc>
                <a:spcPts val="2832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on independent datasets add linguistic features and multi-task learning.</a:t>
            </a:r>
          </a:p>
          <a:p>
            <a:pPr algn="l">
              <a:lnSpc>
                <a:spcPts val="2834"/>
              </a:lnSpc>
            </a:pPr>
          </a:p>
          <a:p>
            <a:pPr algn="l" marL="300284" indent="-150142" lvl="1">
              <a:lnSpc>
                <a:spcPts val="2834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studies tracking acoustic changes within individuals over time.</a:t>
            </a:r>
          </a:p>
          <a:p>
            <a:pPr algn="l" marL="300284" indent="-150142" lvl="1">
              <a:lnSpc>
                <a:spcPts val="27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9553" y="321446"/>
            <a:ext cx="8190503" cy="56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 Applicability &amp; Future Work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545"/>
            <a:ext cx="9753600" cy="975360"/>
            <a:chOff x="0" y="0"/>
            <a:chExt cx="13004800" cy="1300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300480"/>
            </a:xfrm>
            <a:custGeom>
              <a:avLst/>
              <a:gdLst/>
              <a:ahLst/>
              <a:cxnLst/>
              <a:rect r="r" b="b" t="t" l="l"/>
              <a:pathLst>
                <a:path h="130048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300480"/>
                  </a:lnTo>
                  <a:lnTo>
                    <a:pt x="0" y="1300480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260096"/>
                  </a:lnTo>
                  <a:lnTo>
                    <a:pt x="0" y="260096"/>
                  </a:lnTo>
                  <a:close/>
                </a:path>
              </a:pathLst>
            </a:custGeom>
            <a:solidFill>
              <a:srgbClr val="FFC7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513" y="344091"/>
            <a:ext cx="712527" cy="287179"/>
          </a:xfrm>
          <a:custGeom>
            <a:avLst/>
            <a:gdLst/>
            <a:ahLst/>
            <a:cxnLst/>
            <a:rect r="r" b="b" t="t" l="l"/>
            <a:pathLst>
              <a:path h="287179" w="712527">
                <a:moveTo>
                  <a:pt x="0" y="0"/>
                </a:moveTo>
                <a:lnTo>
                  <a:pt x="712527" y="0"/>
                </a:lnTo>
                <a:lnTo>
                  <a:pt x="712527" y="287178"/>
                </a:lnTo>
                <a:lnTo>
                  <a:pt x="0" y="287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42703" y="3753919"/>
            <a:ext cx="6910897" cy="3366209"/>
          </a:xfrm>
          <a:custGeom>
            <a:avLst/>
            <a:gdLst/>
            <a:ahLst/>
            <a:cxnLst/>
            <a:rect r="r" b="b" t="t" l="l"/>
            <a:pathLst>
              <a:path h="3366209" w="6910897">
                <a:moveTo>
                  <a:pt x="0" y="0"/>
                </a:moveTo>
                <a:lnTo>
                  <a:pt x="6910897" y="0"/>
                </a:lnTo>
                <a:lnTo>
                  <a:pt x="6910897" y="3366209"/>
                </a:lnTo>
                <a:lnTo>
                  <a:pt x="0" y="3366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391" r="0" b="-1839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280" y="179708"/>
            <a:ext cx="2695175" cy="121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  <a:p>
            <a:pPr algn="l">
              <a:lnSpc>
                <a:spcPts val="460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0362" y="1264402"/>
            <a:ext cx="8952876" cy="239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381" indent="-152690" lvl="1">
              <a:lnSpc>
                <a:spcPts val="2059"/>
              </a:lnSpc>
              <a:buFont typeface="Arial"/>
              <a:buChar char="•"/>
            </a:pPr>
            <a:r>
              <a:rPr lang="en-US" sz="23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 complete pipeline: Coswara integration, 46-feature acoustic representation, XGBoost tuning.</a:t>
            </a:r>
          </a:p>
          <a:p>
            <a:pPr algn="l" marL="305381" indent="-152690" lvl="1">
              <a:lnSpc>
                <a:spcPts val="2059"/>
              </a:lnSpc>
            </a:pPr>
          </a:p>
          <a:p>
            <a:pPr algn="l" marL="305381" indent="-152690" lvl="1">
              <a:lnSpc>
                <a:spcPts val="2059"/>
              </a:lnSpc>
              <a:buFont typeface="Arial"/>
              <a:buChar char="•"/>
            </a:pPr>
            <a:r>
              <a:rPr lang="en-US" sz="23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Baseline: 81% accuracy, AUC 0.73 tuning targets 50–65% positive recall for clinical relevance.</a:t>
            </a:r>
          </a:p>
          <a:p>
            <a:pPr algn="l" marL="305381" indent="-152690" lvl="1">
              <a:lnSpc>
                <a:spcPts val="2059"/>
              </a:lnSpc>
            </a:pPr>
          </a:p>
          <a:p>
            <a:pPr algn="l" marL="305381" indent="-152690" lvl="1">
              <a:lnSpc>
                <a:spcPts val="2059"/>
              </a:lnSpc>
              <a:buFont typeface="Arial"/>
              <a:buChar char="•"/>
            </a:pPr>
            <a:r>
              <a:rPr lang="en-US" sz="23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the feasibility of speech-based health screening and motivates multimodal extensions.</a:t>
            </a:r>
          </a:p>
          <a:p>
            <a:pPr algn="l" marL="305381" indent="-152690" lvl="1">
              <a:lnSpc>
                <a:spcPts val="284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120128"/>
            <a:chOff x="0" y="0"/>
            <a:chExt cx="13004800" cy="949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493504"/>
            </a:xfrm>
            <a:custGeom>
              <a:avLst/>
              <a:gdLst/>
              <a:ahLst/>
              <a:cxnLst/>
              <a:rect r="r" b="b" t="t" l="l"/>
              <a:pathLst>
                <a:path h="9493504" w="13004800">
                  <a:moveTo>
                    <a:pt x="0" y="9493504"/>
                  </a:moveTo>
                  <a:lnTo>
                    <a:pt x="13004800" y="9493504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493504"/>
                  </a:lnTo>
                  <a:close/>
                </a:path>
              </a:pathLst>
            </a:custGeom>
            <a:solidFill>
              <a:srgbClr val="69B3E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120128"/>
            <a:ext cx="9753600" cy="195072"/>
            <a:chOff x="0" y="0"/>
            <a:chExt cx="13004800" cy="260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260096"/>
            </a:xfrm>
            <a:custGeom>
              <a:avLst/>
              <a:gdLst/>
              <a:ahLst/>
              <a:cxnLst/>
              <a:rect r="r" b="b" t="t" l="l"/>
              <a:pathLst>
                <a:path h="260096" w="13004800">
                  <a:moveTo>
                    <a:pt x="13004800" y="0"/>
                  </a:moveTo>
                  <a:lnTo>
                    <a:pt x="0" y="0"/>
                  </a:lnTo>
                  <a:lnTo>
                    <a:pt x="0" y="260096"/>
                  </a:lnTo>
                  <a:lnTo>
                    <a:pt x="13004800" y="260096"/>
                  </a:lnTo>
                  <a:lnTo>
                    <a:pt x="13004800" y="0"/>
                  </a:lnTo>
                  <a:close/>
                </a:path>
              </a:pathLst>
            </a:custGeom>
            <a:solidFill>
              <a:srgbClr val="FFC62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0484" y="344100"/>
            <a:ext cx="712013" cy="287179"/>
          </a:xfrm>
          <a:custGeom>
            <a:avLst/>
            <a:gdLst/>
            <a:ahLst/>
            <a:cxnLst/>
            <a:rect r="r" b="b" t="t" l="l"/>
            <a:pathLst>
              <a:path h="287179" w="712013">
                <a:moveTo>
                  <a:pt x="0" y="0"/>
                </a:moveTo>
                <a:lnTo>
                  <a:pt x="712013" y="0"/>
                </a:lnTo>
                <a:lnTo>
                  <a:pt x="712013" y="287179"/>
                </a:lnTo>
                <a:lnTo>
                  <a:pt x="0" y="28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t="0" r="-41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5855275" cy="5855275"/>
          </a:xfrm>
          <a:custGeom>
            <a:avLst/>
            <a:gdLst/>
            <a:ahLst/>
            <a:cxnLst/>
            <a:rect r="r" b="b" t="t" l="l"/>
            <a:pathLst>
              <a:path h="5855275" w="5855275">
                <a:moveTo>
                  <a:pt x="0" y="0"/>
                </a:moveTo>
                <a:lnTo>
                  <a:pt x="5855275" y="0"/>
                </a:lnTo>
                <a:lnTo>
                  <a:pt x="5855275" y="5855275"/>
                </a:lnTo>
                <a:lnTo>
                  <a:pt x="0" y="5855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5275" y="2262266"/>
            <a:ext cx="4018103" cy="74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4710" spc="-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8916" y="6886137"/>
            <a:ext cx="260775" cy="19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279" spc="-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DAG7tM-oKcM</dc:identifier>
  <dcterms:modified xsi:type="dcterms:W3CDTF">2011-08-01T06:04:30Z</dcterms:modified>
  <cp:revision>1</cp:revision>
  <dc:title>Final presentation.pptx</dc:title>
</cp:coreProperties>
</file>